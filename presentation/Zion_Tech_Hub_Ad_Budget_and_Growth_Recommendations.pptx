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C2-4846-88CC-EE48C2B2CE31}"/>
              </c:ext>
            </c:extLst>
          </c:dPt>
          <c:dPt>
            <c:idx val="1"/>
            <c:bubble3D val="0"/>
            <c:spPr>
              <a:solidFill>
                <a:srgbClr val="D9E2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C2-4846-88CC-EE48C2B2CE31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C2-4846-88CC-EE48C2B2CE31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C2-4846-88CC-EE48C2B2CE31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Jan 22–23 spike</c:v>
                </c:pt>
                <c:pt idx="1">
                  <c:v>Rest of the period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C2-4846-88CC-EE48C2B2C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4B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9 (spike-adjusted)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 (Twitter)</c:v>
                </c:pt>
                <c:pt idx="1">
                  <c:v>LinkedIn</c:v>
                </c:pt>
                <c:pt idx="2">
                  <c:v>WhatsApp</c:v>
                </c:pt>
                <c:pt idx="3">
                  <c:v>Referral</c:v>
                </c:pt>
                <c:pt idx="4">
                  <c:v>Facebook</c:v>
                </c:pt>
                <c:pt idx="5">
                  <c:v>Instagram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25</c:v>
                </c:pt>
                <c:pt idx="2">
                  <c:v>28</c:v>
                </c:pt>
                <c:pt idx="3">
                  <c:v>3.5</c:v>
                </c:pt>
                <c:pt idx="4">
                  <c:v>1.3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F-4602-BC6D-70B5003AF5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10 (spike-adjusted)</c:v>
                </c:pt>
              </c:strCache>
            </c:strRef>
          </c:tx>
          <c:spPr>
            <a:solidFill>
              <a:srgbClr val="8FB3F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 (Twitter)</c:v>
                </c:pt>
                <c:pt idx="1">
                  <c:v>LinkedIn</c:v>
                </c:pt>
                <c:pt idx="2">
                  <c:v>WhatsApp</c:v>
                </c:pt>
                <c:pt idx="3">
                  <c:v>Referral</c:v>
                </c:pt>
                <c:pt idx="4">
                  <c:v>Facebook</c:v>
                </c:pt>
                <c:pt idx="5">
                  <c:v>Instagram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</c:v>
                </c:pt>
                <c:pt idx="1">
                  <c:v>23</c:v>
                </c:pt>
                <c:pt idx="2">
                  <c:v>7</c:v>
                </c:pt>
                <c:pt idx="3">
                  <c:v>7</c:v>
                </c:pt>
                <c:pt idx="4">
                  <c:v>1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8F-4602-BC6D-70B5003AF5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 (Twitter)</c:v>
                </c:pt>
                <c:pt idx="1">
                  <c:v>LinkedIn</c:v>
                </c:pt>
                <c:pt idx="2">
                  <c:v>WhatsApp</c:v>
                </c:pt>
                <c:pt idx="3">
                  <c:v>Referral</c:v>
                </c:pt>
                <c:pt idx="4">
                  <c:v>Facebook</c:v>
                </c:pt>
                <c:pt idx="5">
                  <c:v>Instagram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</c:v>
                </c:pt>
                <c:pt idx="1">
                  <c:v>17</c:v>
                </c:pt>
                <c:pt idx="2">
                  <c:v>8</c:v>
                </c:pt>
                <c:pt idx="3">
                  <c:v>2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B-4AC8-91B3-569CC2527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Nigeria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X (Twitter)</c:v>
                </c:pt>
                <c:pt idx="1">
                  <c:v>LinkedIn</c:v>
                </c:pt>
                <c:pt idx="2">
                  <c:v>WhatsApp</c:v>
                </c:pt>
                <c:pt idx="3">
                  <c:v>Referral</c:v>
                </c:pt>
                <c:pt idx="4">
                  <c:v>Facebook</c:v>
                </c:pt>
                <c:pt idx="5">
                  <c:v>Instagram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</c:v>
                </c:pt>
                <c:pt idx="1">
                  <c:v>14</c:v>
                </c:pt>
                <c:pt idx="2">
                  <c:v>26</c:v>
                </c:pt>
                <c:pt idx="3">
                  <c:v>3</c:v>
                </c:pt>
                <c:pt idx="4">
                  <c:v>2</c:v>
                </c:pt>
                <c:pt idx="5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0B-4AC8-91B3-569CC2527D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9</c:v>
                </c:pt>
              </c:strCache>
            </c:strRef>
          </c:tx>
          <c:spPr>
            <a:solidFill>
              <a:srgbClr val="8FB3F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Science &amp; AI</c:v>
                </c:pt>
                <c:pt idx="1">
                  <c:v>Healthcare Data Analytics</c:v>
                </c:pt>
                <c:pt idx="2">
                  <c:v>Financial Analytics</c:v>
                </c:pt>
                <c:pt idx="3">
                  <c:v>Sales &amp; Marketing Analytics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17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17-447F-A22C-D56CBB7460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10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Science &amp; AI</c:v>
                </c:pt>
                <c:pt idx="1">
                  <c:v>Healthcare Data Analytics</c:v>
                </c:pt>
                <c:pt idx="2">
                  <c:v>Financial Analytics</c:v>
                </c:pt>
                <c:pt idx="3">
                  <c:v>Sales &amp; Marketing Analytics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</c:v>
                </c:pt>
                <c:pt idx="1">
                  <c:v>18</c:v>
                </c:pt>
                <c:pt idx="2">
                  <c:v>13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17-447F-A22C-D56CBB7460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B3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80-4135-853F-CE50B1CFCE19}"/>
              </c:ext>
            </c:extLst>
          </c:dPt>
          <c:dPt>
            <c:idx val="1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80-4135-853F-CE50B1CFCE19}"/>
              </c:ext>
            </c:extLst>
          </c:dPt>
          <c:dPt>
            <c:idx val="2"/>
            <c:bubble3D val="0"/>
            <c:spPr>
              <a:solidFill>
                <a:srgbClr val="5B7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80-4135-853F-CE50B1CFCE19}"/>
              </c:ext>
            </c:extLst>
          </c:dPt>
          <c:dPt>
            <c:idx val="3"/>
            <c:bubble3D val="0"/>
            <c:spPr>
              <a:solidFill>
                <a:srgbClr val="2C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80-4135-853F-CE50B1CFCE19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A1833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80-4135-853F-CE50B1CFCE19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A1833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80-4135-853F-CE50B1CFCE19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A1833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80-4135-853F-CE50B1CFCE19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A1833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80-4135-853F-CE50B1CFCE19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X (Twitter)</c:v>
                </c:pt>
                <c:pt idx="1">
                  <c:v>LinkedIn</c:v>
                </c:pt>
                <c:pt idx="2">
                  <c:v>Facebook / Instagram</c:v>
                </c:pt>
                <c:pt idx="3">
                  <c:v>Referral incentive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80-4135-853F-CE50B1CFC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0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gbedekofo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foworola-eng/zth-ad-budget-analysis/tree/ma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agbedekofo@gmail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foworola-eng/zth-ad-budget-analysis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24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926080" y="4206240"/>
            <a:ext cx="4937760" cy="4937760"/>
          </a:xfrm>
          <a:prstGeom prst="ellipse">
            <a:avLst/>
          </a:prstGeom>
          <a:ln w="15875">
            <a:solidFill>
              <a:srgbClr val="244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first ad budget should go, and how Cohort 11 fills up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registration-data analysis built for Zion Tech Hub's marketing lead, on two real, unfiltered cohort exports.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43484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53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reconciled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443484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4553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23360" y="5074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resolved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443484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45537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5074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documented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Kofoworola Agbede
</a:t>
            </a:r>
            <a:r>
              <a:rPr lang="en-US" sz="140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agbedekofo@gmail.com</a:t>
            </a:r>
            <a:endParaRPr lang="en-US" sz="1400" dirty="0">
              <a:solidFill>
                <a:srgbClr val="8FB3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r>
              <a:rPr lang="en-US" sz="140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Repository</a:t>
            </a:r>
            <a:endParaRPr lang="en-US" sz="1400" dirty="0">
              <a:solidFill>
                <a:srgbClr val="8FB3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cohorts, no ad spend yet, and three real questions to answer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108173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5146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57400" y="25146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first-ever ad budget go, and who should it target?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108173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7947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379476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 so the community grows and Cohort 11 fills up?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5074920"/>
            <a:ext cx="108173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50749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57400" y="507492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and how, should Zion Tech Hub grow outside Nigeria?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messy exports, turned into one defensible dataset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6334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reconciled across Cohort 9 and Cohort 10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468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6334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45152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registrations resolved via a phone + email match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246888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26334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30184" y="3291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spike-driven rows isolated and adjusted for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32511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4897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60120" y="5148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assumptions behind every judgment call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0832" y="432511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44897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45152" y="5148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geography, timing and course dimensions compared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55864" y="4325112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30184" y="44897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330184" y="51480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findings, recommendations, assumptions, and two dashboards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first, then let the two cohorts talk to each other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2587752" cy="32461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761488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each cohort's export actually contains, field by field, before touching a single value.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93008" y="2468880"/>
            <a:ext cx="2587752" cy="32461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2761488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42900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67328" y="384048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countries and channels, resolve duplicates with a phone-and-email composite key, and flag, not guess, ambiguous entries.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0216" y="2468880"/>
            <a:ext cx="2587752" cy="32461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4536" y="2761488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4536" y="342900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74536" y="384048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Cohort 9 against Cohort 10 on channel, geography, timing and course, controlling for spikes and catalog changes.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07424" y="2468880"/>
            <a:ext cx="2587752" cy="32461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81744" y="2761488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3" name="Text 21"/>
          <p:cNvSpPr/>
          <p:nvPr/>
        </p:nvSpPr>
        <p:spPr>
          <a:xfrm>
            <a:off x="9381744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81744" y="342900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381744" y="384048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patterns that survive scrutiny into a specific budget split and a numbered growth plan.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two-day spike was inflating the picture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Cohort 9 rows arrived through X (Twitter) in a 48-hour window, January 22 to 23. Left in, X looks dominant everywhere; removed, every channel's real performance becomes visible.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2971800" cy="2834640"/>
          </a:xfrm>
          <a:prstGeom prst="roundRect">
            <a:avLst>
              <a:gd name="adj" fmla="val 2581"/>
            </a:avLst>
          </a:prstGeom>
          <a:solidFill>
            <a:srgbClr val="0A1833"/>
          </a:solidFill>
          <a:ln/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520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Cohort 9 registrations arrived in that single 48-hour window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60520" y="1783080"/>
          <a:ext cx="73609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TWO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holds steady. WhatsApp fell hard.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Spike-adjusted share of registrations by channel. X (Twitter) is the only channel with genuine growth between cohorts; WhatsApp drops from 28.9% to 7.0%, too steep to be routine.</a:t>
            </a:r>
            <a:endParaRPr lang="en-US" sz="14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514600"/>
          <a:ext cx="1081735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outside Nigeria already has a shape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by geography, Cohort 9. X (Twitter) and LinkedIn, not WhatsApp, are what actually reach registrants outside Nigeria; Nigeria, South Africa, Ghana and Kenya are the consistent top four across both cohorts.</a:t>
            </a:r>
            <a:endParaRPr lang="en-US" sz="14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514600"/>
          <a:ext cx="1081735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FOUR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896112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Data Analytics is cooling, even after controlling for dilution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10 added new courses, so raw share comparisons are misleading on their own. Controlled for that dilution, Healthcare Data Analytics is still down 6.7 points, and 64.9% of repeat registrants switched their course choice.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606040"/>
          <a:ext cx="10817352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24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8FB3F5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split the first ad budget</a:t>
            </a:r>
            <a:endParaRPr lang="en-US" sz="3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965960"/>
          <a:ext cx="4297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57800" y="2121408"/>
            <a:ext cx="146304" cy="146304"/>
          </a:xfrm>
          <a:prstGeom prst="ellipse">
            <a:avLst/>
          </a:prstGeom>
          <a:solidFill>
            <a:srgbClr val="8FB3F5"/>
          </a:solidFill>
          <a:ln/>
        </p:spPr>
      </p:sp>
      <p:sp>
        <p:nvSpPr>
          <p:cNvPr id="8" name="Text 5"/>
          <p:cNvSpPr/>
          <p:nvPr/>
        </p:nvSpPr>
        <p:spPr>
          <a:xfrm>
            <a:off x="55321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(Twitter)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532120" y="229514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channel with genuine spike-adjusted growth. Strongest for international reach.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3145536"/>
            <a:ext cx="146304" cy="146304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0" y="2990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32120" y="33192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channel. Disproportionately strong for Healthcare Data Analytics.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57800" y="4169664"/>
            <a:ext cx="146304" cy="146304"/>
          </a:xfrm>
          <a:prstGeom prst="ellipse">
            <a:avLst/>
          </a:prstGeom>
          <a:solidFill>
            <a:srgbClr val="5B79B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Instagram (test)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0" y="4014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32120" y="4343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Vanished in Cohort 10. A small test answers cheaply whether that was real.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57800" y="5193792"/>
            <a:ext cx="146304" cy="146304"/>
          </a:xfrm>
          <a:prstGeom prst="ellipse">
            <a:avLst/>
          </a:prstGeom>
          <a:solidFill>
            <a:srgbClr val="2C4A8C"/>
          </a:solidFill>
          <a:ln/>
        </p:spPr>
      </p:sp>
      <p:sp>
        <p:nvSpPr>
          <p:cNvPr id="20" name="Text 17"/>
          <p:cNvSpPr/>
          <p:nvPr/>
        </p:nvSpPr>
        <p:spPr>
          <a:xfrm>
            <a:off x="5532120" y="5038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incentive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0" y="50383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532120" y="5367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steady organic signal already present, worth actively encouraging.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5800" y="605332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recommended for WhatsApp as an acquisition channel, given its steep spike-adjusted decline.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24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8FB3F5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for Cohort 11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course selection upfront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 of repeat registrants switched courses. A short guide would cut this friction.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3736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1847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WhatsApp decline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03720" y="2240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28.9% to 7.0% is too steep to ignore. Understand why before doubling down.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90779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077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017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deliberate deadline push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25880" y="34107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cohorts convert heavily near the close date. Build this in on purpose.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907792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077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3017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referral program on LinkedIn's base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03720" y="34107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LinkedIn's stability suggests a loyal audience. Turn it into active referrals.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4078224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7822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41879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 the Healthcare Data Analytics decline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25880" y="458114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6.7 points even after controlling for new courses.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078224"/>
            <a:ext cx="5257800" cy="1024128"/>
          </a:xfrm>
          <a:prstGeom prst="roundRect">
            <a:avLst>
              <a:gd name="adj" fmla="val 5357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078224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B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41879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international growth as X and LinkedIn, not WhatsApp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458114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channels already reach the top four countries outside Nigeria.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5248656"/>
            <a:ext cx="10817352" cy="749808"/>
          </a:xfrm>
          <a:prstGeom prst="roundRect">
            <a:avLst>
              <a:gd name="adj" fmla="val 7317"/>
            </a:avLst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" y="524865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99032" y="5248656"/>
            <a:ext cx="9857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the founder's personal brand on LinkedIn.  </a:t>
            </a:r>
            <a:r>
              <a:rPr lang="en-US" sz="1100" dirty="0">
                <a:solidFill>
                  <a:srgbClr val="E4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LinkedIn's skew toward Healthcare Data Analytics likely reflects the CEO's own background in the field — more story-sharing there compounds this strength at little to no extra ad spend.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E1E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 IN MIND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judgment call, made visible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578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names kept, not dropped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587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Cohort 9 rows had a 4-character email pattern with zero variation — a deliberate redaction, not broken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required phone AND email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2587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alone falsely flagged 729 rows; short de-identified numbers collide by chance. Requiring both found the real 46.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52578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050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entries labeled, never guessed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448970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1% of Country values could not be safely resolved. They're marked and excluded rather than forced into a guess.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867912"/>
            <a:ext cx="52578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1270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050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 not force-matched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37960" y="448970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10 added two new courses. “Data Science and AI” and “Data Science and ML” were kept separate, not assumed identical.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377440"/>
            <a:ext cx="6583680" cy="6583680"/>
          </a:xfrm>
          <a:prstGeom prst="ellipse">
            <a:avLst/>
          </a:prstGeom>
          <a:ln w="15875">
            <a:solidFill>
              <a:srgbClr val="244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03504"/>
            <a:ext cx="82296" cy="82296"/>
          </a:xfrm>
          <a:prstGeom prst="ellipse">
            <a:avLst/>
          </a:prstGeom>
          <a:solidFill>
            <a:srgbClr val="8FB3F5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YOURSELF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interactive dashboard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cohort, toggle spike days on or off, and watch the channel and geography findings update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14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public.tableau.com/app/profile/kofoworola.agbede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traces back to a decision documented in the project's assumptions writeup so nothing here is a black box.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Kofoworola Agbede
</a:t>
            </a:r>
            <a:r>
              <a:rPr lang="en-US" sz="12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
</a:t>
            </a:r>
            <a:r>
              <a:rPr lang="en-US" sz="12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agbedekofo@gmail.com</a:t>
            </a:r>
            <a:endParaRPr lang="en-US" sz="1200" b="1" dirty="0">
              <a:solidFill>
                <a:srgbClr val="8FB3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</a:t>
            </a:r>
            <a:r>
              <a:rPr lang="en-US" sz="12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Repository</a:t>
            </a:r>
            <a:endParaRPr lang="en-US" sz="1200" b="1" dirty="0">
              <a:solidFill>
                <a:srgbClr val="8FB3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178308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32A5C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pushback welcome.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TECH HUB DATA CHALLENGE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314432" y="6382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8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1085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Kofoworola Agbede</cp:lastModifiedBy>
  <cp:revision>2</cp:revision>
  <dcterms:created xsi:type="dcterms:W3CDTF">2026-09-17T12:29:32Z</dcterms:created>
  <dcterms:modified xsi:type="dcterms:W3CDTF">2026-09-17T12:38:46Z</dcterms:modified>
</cp:coreProperties>
</file>